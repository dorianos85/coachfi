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18%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4BC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FEA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Share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18</c:v>
                </c:pt>
                <c:pt idx="1">
                  <c:v>82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49%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7A57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FEA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Share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</c:v>
                </c:pt>
                <c:pt idx="1">
                  <c:v>51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[0:00–0:12 · 12 s] I'm Dorian Żaczek, founder of CoachFI AI. We help people build money habits — with a voice coach called Mila, and learning certificates on Solana.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[0:12–0:31 · 19 s] The problem is real. In the EU, only eighteen percent of citizens have high financial literacy. And forty-nine percent of people aged eighteen to sixty-five could not live three months on their savings. Knowing is not enough. People need habits.
Sources: Flash Eurobarometer 525 (2023); EC Financial Literacy Strategy COM(2025) 681, 30 Sept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[0:31–0:52 · 21 s] Meet Mila — our voice-first AI coach. You ask a real question, out loud. Mila answers with a short lesson and one small next step. Voice helps blind and low-vision learners, and every answer also comes as text and captions.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[0:52–1:21 · 29 s] Here is the loop. One: you ask a money question. Two: Mila gives a short lesson. Three: you practice — a quiz and a three-day saving streak, with points to keep it fun. Four: you earn a certificate — on-chain, on Solana Devnet. The goal is a habit, not a game. Let me show you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[1:21–1:47 · 26 s] This is live, on Solana Devnet. Scan the left code — it opens coachfiai.com/rewards. You sign in with a Coinbase non-custodial wallet, accept a clear blockchain consent, and press Mint certificate. And this is our first real certificate: a Metaplex Core asset, finalized on Devnet. Scan the right code to see it in Explorer.
Verified 13 Oct 2026: tx 4o6n9e…jtZLEv finalized, err null, Metaplex Core CreateV2; asset 373B7m…nDsA; owner 21dYDb…C2C8p.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[1:47–2:14 · 27 s] Why Solana? Learning stays private and off-chain. Our backend checks eligibility, then — with consent — mints a Metaplex Core certificate to the learner's own wallet. Anyone can check it in Explorer: signature, asset, owner, metadata. The wallet is optional. Next: make it non-transferable with Permanent Freeze Delegate.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[2:14–2:33 · 19 s] Distribution: I run DORIANOS and Złap Trend — a YouTube channel and community about money and markets. Next: white-label pilots for financial planners. We are talking with Metamorfoza Finansowa and Grzegorz Kusz. This is a prospective pilot — not traction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[2:33–2:46 · 13 s] Roadmap. First Devnet certificate: done this month. Q4: non-transferable credentials and Kids mode. Q1 2027: a partner pilot. Mainnet only after audit and legal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[2:46–3:00 · 14 s] I'm the founder. Mieszko Manijak builds our Solana layer. We ask for three things: pilot partners, Solana technical support, and funding conversations. Financial confidence should be a habit — not a privilege.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(not timed). Verified on Devnet: tx 4o6n9e…, Metaplex Core asset 373B7m…, owner 21dYDb…. Be upfront about the metadata URI and transferability.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(not timed). The first asset has no freeze plugin: it is transferable. Say so if asked. The score attribute is public on-chain.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(not timed). Recorded evidence from the real tx, checked 13 Oct 2026 on the public Devnet RPC. Use the animated HTML deck for a live re-check.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achfiai.com/rewards" TargetMode="External"/><Relationship Id="rId3" Type="http://schemas.openxmlformats.org/officeDocument/2006/relationships/hyperlink" Target="https://coachfiai.com/rewards" TargetMode="External"/><Relationship Id="rId4" Type="http://schemas.openxmlformats.org/officeDocument/2006/relationships/hyperlink" Target="https://explorer.solana.com/tx/4o6n9eheETBu6ecomcbAuCVj5cCf3GLq2RpAR2r2j5ppqLD3ehchHSHkNjywwXzePnxvu2GSRp2mHFLBk2jtZLEv?cluster=devnet" TargetMode="External"/><Relationship Id="rId5" Type="http://schemas.openxmlformats.org/officeDocument/2006/relationships/hyperlink" Target="https://explorer.solana.com/address/373B7mWUUpDVy9nFXTo9poPcpuETKpX4xYmgMVcUnDsA?cluster=devnet" TargetMode="External"/><Relationship Id="rId7" Type="http://schemas.openxmlformats.org/officeDocument/2006/relationships/hyperlink" Target="https://explorer.solana.com/tx/4o6n9eheETBu6ecomcbAuCVj5cCf3GLq2RpAR2r2j5ppqLD3ehchHSHkNjywwXzePnxvu2GSRp2mHFLBk2jtZLEv?cluster=devnet" TargetMode="External"/><Relationship Id="rId1" Type="http://schemas.openxmlformats.org/officeDocument/2006/relationships/image" Target="../media/image-5-1.png"/><Relationship Id="rId6" Type="http://schemas.openxmlformats.org/officeDocument/2006/relationships/image" Target="../media/image-5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xplorer.solana.com/tx/4o6n9eheETBu6ecomcbAuCVj5cCf3GLq2RpAR2r2j5ppqLD3ehchHSHkNjywwXzePnxvu2GSRp2mHFLBk2jtZLEv?cluster=devnet" TargetMode="External"/><Relationship Id="rId3" Type="http://schemas.openxmlformats.org/officeDocument/2006/relationships/hyperlink" Target="https://explorer.solana.com/tx/4o6n9eheETBu6ecomcbAuCVj5cCf3GLq2RpAR2r2j5ppqLD3ehchHSHkNjywwXzePnxvu2GSRp2mHFLBk2jtZLEv?cluster=devnet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a0_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33400"/>
            <a:ext cx="273050" cy="40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1400" y="5715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oach</a:t>
            </a:r>
            <a:endParaRPr lang="en-US" sz="2300" dirty="0"/>
          </a:p>
        </p:txBody>
      </p:sp>
      <p:pic>
        <p:nvPicPr>
          <p:cNvPr id="4" name="Image 1" descr="/home/claude/assets/a1_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609600"/>
            <a:ext cx="317500" cy="25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63750" y="5461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620000" y="635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COLOSSEUM HACKATHON · 2026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62000" y="1587500"/>
            <a:ext cx="2794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2000" y="15875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●  Voice-first financial learning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62000" y="2032000"/>
            <a:ext cx="6223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Money shouldn't be
</a:t>
            </a:r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a mystery.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762000" y="3683000"/>
            <a:ext cx="546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Meet Mila — an AI coach that turns money questions into small daily habits, with learning certificates on Solana Devnet.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62000" y="4699000"/>
            <a:ext cx="1206500" cy="3302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2000" y="4699000"/>
            <a:ext cx="1206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Voice-first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057400" y="4699000"/>
            <a:ext cx="1206500" cy="3302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57400" y="4699000"/>
            <a:ext cx="1206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Habit loop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52800" y="4699000"/>
            <a:ext cx="2286000" cy="3302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52800" y="4699000"/>
            <a:ext cx="228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Solana Devnet certificates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66000" y="1460500"/>
            <a:ext cx="3683000" cy="3683000"/>
          </a:xfrm>
          <a:prstGeom prst="ellipse">
            <a:avLst/>
          </a:prstGeom>
          <a:ln w="15875">
            <a:solidFill>
              <a:srgbClr val="CFC7EE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7747000" y="1841500"/>
            <a:ext cx="2921000" cy="2921000"/>
          </a:xfrm>
          <a:prstGeom prst="ellipse">
            <a:avLst/>
          </a:prstGeom>
          <a:solidFill>
            <a:srgbClr val="EBE1FF"/>
          </a:solidFill>
          <a:ln/>
        </p:spPr>
      </p:sp>
      <p:pic>
        <p:nvPicPr>
          <p:cNvPr id="19" name="Image 2" descr="/home/claude/assets/a0_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1968500"/>
            <a:ext cx="1778000" cy="2667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02500" y="2032000"/>
            <a:ext cx="1079500" cy="3302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02500" y="2032000"/>
            <a:ext cx="107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 Ask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0414000" y="2286000"/>
            <a:ext cx="1079500" cy="3302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414000" y="2286000"/>
            <a:ext cx="107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 Learn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0160000" y="4445000"/>
            <a:ext cx="1079500" cy="3302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160000" y="4445000"/>
            <a:ext cx="107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 Practice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175500" y="4191000"/>
            <a:ext cx="1079500" cy="3302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175500" y="4191000"/>
            <a:ext cx="107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 Prove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coachfiai.com · Dorian Żaczek, Founder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/ 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572500" y="546100"/>
            <a:ext cx="2857500" cy="279400"/>
          </a:xfrm>
          <a:prstGeom prst="roundRect">
            <a:avLst>
              <a:gd name="adj" fmla="val 50000"/>
            </a:avLst>
          </a:prstGeom>
          <a:solidFill>
            <a:srgbClr val="DDE6FF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0" y="546100"/>
            <a:ext cx="285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EU DATA · ORIGINAL POPULATIONS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Financial confidence is </a:t>
            </a:r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not evenly shared.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52324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1016000" y="2222500"/>
          <a:ext cx="19050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365250" y="2571750"/>
            <a:ext cx="1206500" cy="12065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2825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18%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397000" y="3352800"/>
            <a:ext cx="114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5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 LITERACY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175000" y="2413000"/>
            <a:ext cx="2603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of EU citizens have a high level of financial literacy.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175000" y="3746500"/>
            <a:ext cx="2603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Flash Eurobarometer 525 · European Commission, 2023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7600" y="1905000"/>
            <a:ext cx="52324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6451600" y="2222500"/>
          <a:ext cx="19050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6800850" y="2571750"/>
            <a:ext cx="1206500" cy="12065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451600" y="2825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49%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6832600" y="3352800"/>
            <a:ext cx="114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5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3-MONTH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spc="15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BUFFER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10600" y="2413000"/>
            <a:ext cx="2603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of people aged 18–65 in the EU lack savings to cover 3 months of living costs.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610600" y="3746500"/>
            <a:ext cx="2603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EU Financial Literacy Strategy, COM(2025) 681 · Sept 2025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62000" y="47244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EBE1FF"/>
          </a:solidFill>
          <a:ln/>
        </p:spPr>
      </p:sp>
      <p:sp>
        <p:nvSpPr>
          <p:cNvPr id="21" name="Text 17"/>
          <p:cNvSpPr/>
          <p:nvPr/>
        </p:nvSpPr>
        <p:spPr>
          <a:xfrm>
            <a:off x="990600" y="4724400"/>
            <a:ext cx="1028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→  Knowing is not the same as doing. People need repeatable habits.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EU statistics only, not global totals. 49% = emergency savings for ≥3 months without borrowing or moving house.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/ 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461500" y="546100"/>
            <a:ext cx="1968500" cy="279400"/>
          </a:xfrm>
          <a:prstGeom prst="roundRect">
            <a:avLst>
              <a:gd name="adj" fmla="val 50000"/>
            </a:avLst>
          </a:prstGeom>
          <a:solidFill>
            <a:srgbClr val="DDE6FF"/>
          </a:solidFill>
          <a:ln/>
        </p:spPr>
      </p:sp>
      <p:sp>
        <p:nvSpPr>
          <p:cNvPr id="4" name="Text 2"/>
          <p:cNvSpPr/>
          <p:nvPr/>
        </p:nvSpPr>
        <p:spPr>
          <a:xfrm>
            <a:off x="9461500" y="546100"/>
            <a:ext cx="196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ACCESSIBLE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5500" y="1206500"/>
            <a:ext cx="3937000" cy="3937000"/>
          </a:xfrm>
          <a:prstGeom prst="ellipse">
            <a:avLst/>
          </a:prstGeom>
          <a:ln w="15875">
            <a:solidFill>
              <a:srgbClr val="CFC7E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206500" y="1587500"/>
            <a:ext cx="3175000" cy="3175000"/>
          </a:xfrm>
          <a:prstGeom prst="ellipse">
            <a:avLst/>
          </a:prstGeom>
          <a:solidFill>
            <a:srgbClr val="EBE1FF"/>
          </a:solidFill>
          <a:ln/>
        </p:spPr>
      </p:sp>
      <p:pic>
        <p:nvPicPr>
          <p:cNvPr id="7" name="Image 0" descr="/home/claude/assets/a3_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095500"/>
            <a:ext cx="2159000" cy="2159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05000" y="5080000"/>
            <a:ext cx="1778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05000" y="5080000"/>
            <a:ext cx="177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Mila · Explaining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07000" y="1270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Meet Mila.
</a:t>
            </a:r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Your voice-first money coach.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5207000" y="2476500"/>
            <a:ext cx="6223000" cy="8255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0200" y="26162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ASK · BY VOICE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10200" y="28448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“How do I start saving when there's very little left?”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07000" y="3429000"/>
            <a:ext cx="6223000" cy="825500"/>
          </a:xfrm>
          <a:prstGeom prst="roundRect">
            <a:avLst>
              <a:gd name="adj" fmla="val 15385"/>
            </a:avLst>
          </a:prstGeom>
          <a:solidFill>
            <a:srgbClr val="D5F3E5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0200" y="35687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MILA EXPLAINS · 3-MINUTE LESSON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10200" y="37973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“Let's find one small step that fits your life.”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07000" y="4445000"/>
            <a:ext cx="3073400" cy="406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59400" y="4445000"/>
            <a:ext cx="285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Voice in, voice out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56600" y="4445000"/>
            <a:ext cx="3073400" cy="406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9000" y="4445000"/>
            <a:ext cx="285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Text &amp; captions too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07000" y="4953000"/>
            <a:ext cx="3073400" cy="406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59400" y="4953000"/>
            <a:ext cx="285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 blind &amp; low-vision users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356600" y="4953000"/>
            <a:ext cx="3073400" cy="406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9000" y="4953000"/>
            <a:ext cx="285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Short lessons, one next step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Original CoachFI Mila artwork · illustrative dialogue · education, not financial advice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/ 09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LOOP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890000" y="5461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DDE6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0" y="5461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 · COACHFIAI.COM ↗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One question becomes </a:t>
            </a:r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a habit.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2533650" cy="1968500"/>
          </a:xfrm>
          <a:prstGeom prst="roundRect">
            <a:avLst>
              <a:gd name="adj" fmla="val 6452"/>
            </a:avLst>
          </a:prstGeom>
          <a:solidFill>
            <a:srgbClr val="DDE6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29870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298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2500" y="27940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313690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real money question — by voice or text.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5650" y="2413000"/>
            <a:ext cx="17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3450" y="2095500"/>
            <a:ext cx="2533650" cy="1968500"/>
          </a:xfrm>
          <a:prstGeom prst="roundRect">
            <a:avLst>
              <a:gd name="adj" fmla="val 6452"/>
            </a:avLst>
          </a:prstGeom>
          <a:solidFill>
            <a:srgbClr val="EBE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63950" y="229870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3950" y="2298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3950" y="27940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Learn with Mila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63950" y="313690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short lesson in plain words.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07100" y="2413000"/>
            <a:ext cx="17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4900" y="2095500"/>
            <a:ext cx="2533650" cy="1968500"/>
          </a:xfrm>
          <a:prstGeom prst="roundRect">
            <a:avLst>
              <a:gd name="adj" fmla="val 6452"/>
            </a:avLst>
          </a:prstGeom>
          <a:solidFill>
            <a:srgbClr val="FFE1D1"/>
          </a:solidFill>
          <a:ln/>
        </p:spPr>
      </p:sp>
      <p:sp>
        <p:nvSpPr>
          <p:cNvPr id="19" name="Shape 17"/>
          <p:cNvSpPr/>
          <p:nvPr/>
        </p:nvSpPr>
        <p:spPr>
          <a:xfrm>
            <a:off x="6375400" y="229870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5400" y="2298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5400" y="27940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Practice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5400" y="313690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Gamified challenge: quiz, points and a streak.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18550" y="2413000"/>
            <a:ext cx="17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896350" y="2095500"/>
            <a:ext cx="2533650" cy="1968500"/>
          </a:xfrm>
          <a:prstGeom prst="roundRect">
            <a:avLst>
              <a:gd name="adj" fmla="val 6452"/>
            </a:avLst>
          </a:prstGeom>
          <a:solidFill>
            <a:srgbClr val="FFF0BF"/>
          </a:solidFill>
          <a:ln/>
        </p:spPr>
      </p:sp>
      <p:sp>
        <p:nvSpPr>
          <p:cNvPr id="25" name="Shape 23"/>
          <p:cNvSpPr/>
          <p:nvPr/>
        </p:nvSpPr>
        <p:spPr>
          <a:xfrm>
            <a:off x="9086850" y="229870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6850" y="2298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86850" y="27940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Earn on-chain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86850" y="313690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Achievement unlocked → certificate on Solana Devnet.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2000" y="4343400"/>
            <a:ext cx="10668000" cy="10795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45720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6000" y="4775200"/>
            <a:ext cx="20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Saving Habit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02000" y="4711700"/>
            <a:ext cx="5334000" cy="152400"/>
          </a:xfrm>
          <a:prstGeom prst="roundRect">
            <a:avLst>
              <a:gd name="adj" fmla="val 50000"/>
            </a:avLst>
          </a:prstGeom>
          <a:solidFill>
            <a:srgbClr val="EFEAF6"/>
          </a:solidFill>
          <a:ln/>
        </p:spPr>
      </p:sp>
      <p:sp>
        <p:nvSpPr>
          <p:cNvPr id="33" name="Shape 31"/>
          <p:cNvSpPr/>
          <p:nvPr/>
        </p:nvSpPr>
        <p:spPr>
          <a:xfrm>
            <a:off x="3302000" y="4711700"/>
            <a:ext cx="5334000" cy="152400"/>
          </a:xfrm>
          <a:prstGeom prst="roundRect">
            <a:avLst>
              <a:gd name="adj" fmla="val 50000"/>
            </a:avLst>
          </a:prstGeom>
          <a:solidFill>
            <a:srgbClr val="5B4BC4"/>
          </a:solidFill>
          <a:ln/>
        </p:spPr>
      </p:sp>
      <p:sp>
        <p:nvSpPr>
          <p:cNvPr id="34" name="Text 32"/>
          <p:cNvSpPr/>
          <p:nvPr/>
        </p:nvSpPr>
        <p:spPr>
          <a:xfrm>
            <a:off x="3302000" y="49403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 Quiz          ✓ Day 1          ✓ Day 2          ✓ Day 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90000" y="4622800"/>
            <a:ext cx="2286000" cy="482600"/>
          </a:xfrm>
          <a:prstGeom prst="roundRect">
            <a:avLst>
              <a:gd name="adj" fmla="val 21053"/>
            </a:avLst>
          </a:prstGeom>
          <a:solidFill>
            <a:srgbClr val="D5F3E5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0000" y="46228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Eligible → on-chain · Devnet 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Rule from the public Rewards page: “Unlocks after the saving habit quiz and 3-day streak.” Certificate mint verified on Devnet (slide 5).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/ 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PUBLIC DEMO · TRY IT NOW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06000" y="5461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0" y="5461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●  SOLANA DEVNET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889000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Learn here. </a:t>
            </a:r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Prove it on Solana Devnet.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2921000" cy="4381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955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SCAN · LIVE REWARDS PAGE</a:t>
            </a:r>
            <a:endParaRPr lang="en-US" sz="1000" dirty="0"/>
          </a:p>
        </p:txBody>
      </p:sp>
      <p:pic>
        <p:nvPicPr>
          <p:cNvPr id="8" name="Image 0" descr="/home/claude/assets/qr_hi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413000"/>
            <a:ext cx="2349500" cy="2349500"/>
          </a:xfrm>
          <a:prstGeom prst="rect">
            <a:avLst/>
          </a:prstGeom>
        </p:spPr>
      </p:pic>
      <p:sp>
        <p:nvSpPr>
          <p:cNvPr id="9" name="Text 6">
            <a:hlinkClick r:id="rId3" tooltip=""/>
          </p:cNvPr>
          <p:cNvSpPr/>
          <p:nvPr/>
        </p:nvSpPr>
        <p:spPr>
          <a:xfrm>
            <a:off x="762000" y="4889500"/>
            <a:ext cx="292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u="sng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coachfiai.com/rewards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2000" y="5245100"/>
            <a:ext cx="292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Phone camera · no app needed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60800" y="1714500"/>
            <a:ext cx="7569200" cy="14605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4000" y="19050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PUBLIC ON THE REWARDS PAGE TODAY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64000" y="2197100"/>
            <a:ext cx="723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✓ Coinbase CDP wallet      ✓ Blockchain consent      ✓ “Mint certificate”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64000" y="2603500"/>
            <a:ext cx="7162800" cy="381000"/>
          </a:xfrm>
          <a:prstGeom prst="roundRect">
            <a:avLst>
              <a:gd name="adj" fmla="val 23333"/>
            </a:avLst>
          </a:prstGeom>
          <a:solidFill>
            <a:srgbClr val="DDE6FF"/>
          </a:solidFill>
          <a:ln/>
        </p:spPr>
      </p:sp>
      <p:sp>
        <p:nvSpPr>
          <p:cNvPr id="15" name="Text 12"/>
          <p:cNvSpPr/>
          <p:nvPr/>
        </p:nvSpPr>
        <p:spPr>
          <a:xfrm>
            <a:off x="4203700" y="2603500"/>
            <a:ext cx="698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 copy: “Certificates are proof of education, not investment products.”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60800" y="3352800"/>
            <a:ext cx="7569200" cy="27432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28575">
            <a:solidFill>
              <a:srgbClr val="5B4B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4000" y="3530600"/>
            <a:ext cx="2857500" cy="279400"/>
          </a:xfrm>
          <a:prstGeom prst="roundRect">
            <a:avLst>
              <a:gd name="adj" fmla="val 50000"/>
            </a:avLst>
          </a:prstGeom>
          <a:solidFill>
            <a:srgbClr val="D5F3E5"/>
          </a:solidFill>
          <a:ln/>
        </p:spPr>
      </p:sp>
      <p:sp>
        <p:nvSpPr>
          <p:cNvPr id="18" name="Text 15"/>
          <p:cNvSpPr/>
          <p:nvPr/>
        </p:nvSpPr>
        <p:spPr>
          <a:xfrm>
            <a:off x="4064000" y="3530600"/>
            <a:ext cx="285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 MINT VERIFIED ON SOLANA DEVNET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064000" y="3911600"/>
            <a:ext cx="723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First CoachFI certificate · Metaplex Core asset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64000" y="4203700"/>
            <a:ext cx="723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Tx finalized, no error · checked on Devnet RPC + Explorer, 13 Oct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92600" y="4800600"/>
            <a:ext cx="304800" cy="304800"/>
          </a:xfrm>
          <a:prstGeom prst="ellipse">
            <a:avLst/>
          </a:prstGeom>
          <a:solidFill>
            <a:srgbClr val="D5F3E5"/>
          </a:solidFill>
          <a:ln w="25400">
            <a:solidFill>
              <a:srgbClr val="1E1B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2600" y="4800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064000" y="51562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Rewards UI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public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68800" y="4953000"/>
            <a:ext cx="508000" cy="0"/>
          </a:xfrm>
          <a:prstGeom prst="line">
            <a:avLst/>
          </a:prstGeom>
          <a:noFill/>
          <a:ln w="25400">
            <a:solidFill>
              <a:srgbClr val="1E1B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05400" y="4800600"/>
            <a:ext cx="304800" cy="304800"/>
          </a:xfrm>
          <a:prstGeom prst="ellipse">
            <a:avLst/>
          </a:prstGeom>
          <a:solidFill>
            <a:srgbClr val="D5F3E5"/>
          </a:solidFill>
          <a:ln w="25400">
            <a:solidFill>
              <a:srgbClr val="1E1B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05400" y="4800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76800" y="51562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Wallet +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consent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181600" y="4953000"/>
            <a:ext cx="508000" cy="0"/>
          </a:xfrm>
          <a:prstGeom prst="line">
            <a:avLst/>
          </a:prstGeom>
          <a:noFill/>
          <a:ln w="25400">
            <a:solidFill>
              <a:srgbClr val="1E1B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18200" y="4800600"/>
            <a:ext cx="304800" cy="304800"/>
          </a:xfrm>
          <a:prstGeom prst="ellipse">
            <a:avLst/>
          </a:prstGeom>
          <a:solidFill>
            <a:srgbClr val="D5F3E5"/>
          </a:solidFill>
          <a:ln w="25400">
            <a:solidFill>
              <a:srgbClr val="1E1B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18200" y="4800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89600" y="51562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Mint tx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finalized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994400" y="4953000"/>
            <a:ext cx="508000" cy="0"/>
          </a:xfrm>
          <a:prstGeom prst="line">
            <a:avLst/>
          </a:prstGeom>
          <a:noFill/>
          <a:ln w="25400">
            <a:solidFill>
              <a:srgbClr val="1E1B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31000" y="4800600"/>
            <a:ext cx="304800" cy="304800"/>
          </a:xfrm>
          <a:prstGeom prst="ellipse">
            <a:avLst/>
          </a:prstGeom>
          <a:solidFill>
            <a:srgbClr val="D5F3E5"/>
          </a:solidFill>
          <a:ln w="25400">
            <a:solidFill>
              <a:srgbClr val="1E1B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31000" y="4800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502400" y="51562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Explorer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429500" y="46355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Tx signature</a:t>
            </a:r>
            <a:endParaRPr lang="en-US" sz="1100" dirty="0"/>
          </a:p>
        </p:txBody>
      </p:sp>
      <p:sp>
        <p:nvSpPr>
          <p:cNvPr id="37" name="Text 34">
            <a:hlinkClick r:id="rId4" tooltip=""/>
          </p:cNvPr>
          <p:cNvSpPr/>
          <p:nvPr/>
        </p:nvSpPr>
        <p:spPr>
          <a:xfrm>
            <a:off x="8509000" y="46355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u="sng" dirty="0">
                <a:solidFill>
                  <a:srgbClr val="5B4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4o6n9e…jtZLEv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429500" y="49149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Asset</a:t>
            </a:r>
            <a:endParaRPr lang="en-US" sz="1100" dirty="0"/>
          </a:p>
        </p:txBody>
      </p:sp>
      <p:sp>
        <p:nvSpPr>
          <p:cNvPr id="39" name="Text 36">
            <a:hlinkClick r:id="rId5" tooltip=""/>
          </p:cNvPr>
          <p:cNvSpPr/>
          <p:nvPr/>
        </p:nvSpPr>
        <p:spPr>
          <a:xfrm>
            <a:off x="8509000" y="49149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u="sng" dirty="0">
                <a:solidFill>
                  <a:srgbClr val="5B4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373B7m…nDsA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429500" y="51943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509000" y="51943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21dYDb…C2C8p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429500" y="54737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Program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509000" y="54737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Metaplex Core · CreateV2</a:t>
            </a:r>
            <a:endParaRPr lang="en-US" sz="1050" dirty="0"/>
          </a:p>
        </p:txBody>
      </p:sp>
      <p:pic>
        <p:nvPicPr>
          <p:cNvPr id="44" name="Image 1" descr="/home/claude/assets/qr_tx_hi.png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500" y="4559300"/>
            <a:ext cx="1079500" cy="107950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Right QR → the real mint tx in Solana Explorer (cluster=devnet). Owner = learner wallet; the CoachFI issuer key signed and paid.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05 / 09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SOLANA · HOW THE PROOF WORKS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06000" y="5461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0" y="5461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●  SOLANA DEVNET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5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Private learning. </a:t>
            </a:r>
            <a:pPr indent="0" marL="0">
              <a:lnSpc>
                <a:spcPct val="102000"/>
              </a:lnSpc>
              <a:buNone/>
            </a:pPr>
            <a:r>
              <a:rPr lang="en-US" sz="35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Public, verifiable proof.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3556000" cy="1333500"/>
          </a:xfrm>
          <a:prstGeom prst="roundRect">
            <a:avLst>
              <a:gd name="adj" fmla="val 9524"/>
            </a:avLst>
          </a:prstGeom>
          <a:solidFill>
            <a:srgbClr val="D5F3E5"/>
          </a:solidFill>
          <a:ln/>
        </p:spPr>
      </p:sp>
      <p:sp>
        <p:nvSpPr>
          <p:cNvPr id="7" name="Text 5"/>
          <p:cNvSpPr/>
          <p:nvPr/>
        </p:nvSpPr>
        <p:spPr>
          <a:xfrm>
            <a:off x="901700" y="1968500"/>
            <a:ext cx="336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OFF-CHAIN · PRIVATE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01700" y="2235200"/>
            <a:ext cx="1049867" cy="762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4B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2336800"/>
            <a:ext cx="8974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Lesson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90600" y="2590800"/>
            <a:ext cx="8974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Mila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5067" y="2235200"/>
            <a:ext cx="1049867" cy="762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4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967" y="2336800"/>
            <a:ext cx="8974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Quiz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03967" y="2590800"/>
            <a:ext cx="8974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 streak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28433" y="2235200"/>
            <a:ext cx="1049867" cy="762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4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7333" y="2336800"/>
            <a:ext cx="8974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Eligibility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17333" y="2590800"/>
            <a:ext cx="8974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backend check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8000" y="2286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99000" y="1841500"/>
            <a:ext cx="1905000" cy="1333500"/>
          </a:xfrm>
          <a:prstGeom prst="roundRect">
            <a:avLst>
              <a:gd name="adj" fmla="val 9524"/>
            </a:avLst>
          </a:prstGeom>
          <a:solidFill>
            <a:srgbClr val="EBE1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38700" y="19685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CONSENT · WALLET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38700" y="2235200"/>
            <a:ext cx="1625600" cy="762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4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7600" y="23368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Learner wallet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27600" y="2590800"/>
            <a:ext cx="147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Coinbase CDP · opt-in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04000" y="2286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85000" y="1841500"/>
            <a:ext cx="1905000" cy="13335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8575">
            <a:solidFill>
              <a:srgbClr val="1E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4700" y="19685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ON-CHAIN · DEVNET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24700" y="2235200"/>
            <a:ext cx="1625600" cy="762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4B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13600" y="23368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Certificate 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13600" y="2590800"/>
            <a:ext cx="147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Metaplex Core asset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90000" y="2286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271000" y="1841500"/>
            <a:ext cx="2159000" cy="1333500"/>
          </a:xfrm>
          <a:prstGeom prst="roundRect">
            <a:avLst>
              <a:gd name="adj" fmla="val 9524"/>
            </a:avLst>
          </a:prstGeom>
          <a:solidFill>
            <a:srgbClr val="FFF0BF"/>
          </a:solidFill>
          <a:ln/>
        </p:spPr>
      </p:sp>
      <p:sp>
        <p:nvSpPr>
          <p:cNvPr id="31" name="Text 29"/>
          <p:cNvSpPr/>
          <p:nvPr/>
        </p:nvSpPr>
        <p:spPr>
          <a:xfrm>
            <a:off x="9410700" y="19685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PUBLIC CHECK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10700" y="2235200"/>
            <a:ext cx="1879600" cy="762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4B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9600" y="2336800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Solana Explorer ✓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499600" y="2590800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anyone can verify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2000" y="3429000"/>
            <a:ext cx="5588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0600" y="36322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What a judge can check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90600" y="4064000"/>
            <a:ext cx="2540000" cy="762000"/>
          </a:xfrm>
          <a:prstGeom prst="roundRect">
            <a:avLst>
              <a:gd name="adj" fmla="val 11667"/>
            </a:avLst>
          </a:prstGeom>
          <a:solidFill>
            <a:srgbClr val="DDE6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17600" y="41783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Transaction · finalized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7600" y="44450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4o6n9e…jtZLEv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06800" y="4064000"/>
            <a:ext cx="2540000" cy="762000"/>
          </a:xfrm>
          <a:prstGeom prst="roundRect">
            <a:avLst>
              <a:gd name="adj" fmla="val 11667"/>
            </a:avLst>
          </a:prstGeom>
          <a:solidFill>
            <a:srgbClr val="DDE6FF"/>
          </a:solidFill>
          <a:ln/>
        </p:spPr>
      </p:sp>
      <p:sp>
        <p:nvSpPr>
          <p:cNvPr id="41" name="Text 39"/>
          <p:cNvSpPr/>
          <p:nvPr/>
        </p:nvSpPr>
        <p:spPr>
          <a:xfrm>
            <a:off x="3733800" y="41783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Asset · Metaplex Core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733800" y="44450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373B7m…nDsA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90600" y="4914900"/>
            <a:ext cx="2540000" cy="762000"/>
          </a:xfrm>
          <a:prstGeom prst="roundRect">
            <a:avLst>
              <a:gd name="adj" fmla="val 11667"/>
            </a:avLst>
          </a:prstGeom>
          <a:solidFill>
            <a:srgbClr val="DDE6FF"/>
          </a:solidFill>
          <a:ln/>
        </p:spPr>
      </p:sp>
      <p:sp>
        <p:nvSpPr>
          <p:cNvPr id="44" name="Text 42"/>
          <p:cNvSpPr/>
          <p:nvPr/>
        </p:nvSpPr>
        <p:spPr>
          <a:xfrm>
            <a:off x="1117600" y="5029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Owner · learner wallet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117600" y="52959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21dYDb…C2C8p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06800" y="4914900"/>
            <a:ext cx="2540000" cy="762000"/>
          </a:xfrm>
          <a:prstGeom prst="roundRect">
            <a:avLst>
              <a:gd name="adj" fmla="val 11667"/>
            </a:avLst>
          </a:prstGeom>
          <a:solidFill>
            <a:srgbClr val="DDE6FF"/>
          </a:solidFill>
          <a:ln/>
        </p:spPr>
      </p:sp>
      <p:sp>
        <p:nvSpPr>
          <p:cNvPr id="47" name="Text 45"/>
          <p:cNvSpPr/>
          <p:nvPr/>
        </p:nvSpPr>
        <p:spPr>
          <a:xfrm>
            <a:off x="3733800" y="5029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Metadata · name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3733800" y="52959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 FI - Saving Habit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27800" y="3429000"/>
            <a:ext cx="49022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56400" y="3632200"/>
            <a:ext cx="444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What stays where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756400" y="4064000"/>
            <a:ext cx="2159000" cy="952500"/>
          </a:xfrm>
          <a:prstGeom prst="roundRect">
            <a:avLst>
              <a:gd name="adj" fmla="val 9333"/>
            </a:avLst>
          </a:prstGeom>
          <a:solidFill>
            <a:srgbClr val="D5F3E5"/>
          </a:solidFill>
          <a:ln/>
        </p:spPr>
      </p:sp>
      <p:sp>
        <p:nvSpPr>
          <p:cNvPr id="52" name="Text 50"/>
          <p:cNvSpPr/>
          <p:nvPr/>
        </p:nvSpPr>
        <p:spPr>
          <a:xfrm>
            <a:off x="6883400" y="41656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5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OFF-CHAIN · PRIVATE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83400" y="4381500"/>
            <a:ext cx="19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Identity, money data, quiz answers, voice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042400" y="4064000"/>
            <a:ext cx="2159000" cy="952500"/>
          </a:xfrm>
          <a:prstGeom prst="roundRect">
            <a:avLst>
              <a:gd name="adj" fmla="val 9333"/>
            </a:avLst>
          </a:prstGeom>
          <a:solidFill>
            <a:srgbClr val="FFF0BF"/>
          </a:solidFill>
          <a:ln/>
        </p:spPr>
      </p:sp>
      <p:sp>
        <p:nvSpPr>
          <p:cNvPr id="55" name="Text 53"/>
          <p:cNvSpPr/>
          <p:nvPr/>
        </p:nvSpPr>
        <p:spPr>
          <a:xfrm>
            <a:off x="9169400" y="41656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5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ON-CHAIN · PUBLIC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169400" y="4381500"/>
            <a:ext cx="19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Wallet address, asset ID, certificate metadata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56400" y="5181600"/>
            <a:ext cx="698500" cy="254000"/>
          </a:xfrm>
          <a:prstGeom prst="roundRect">
            <a:avLst>
              <a:gd name="adj" fmla="val 55000"/>
            </a:avLst>
          </a:prstGeom>
          <a:solidFill>
            <a:srgbClr val="DDE6FF"/>
          </a:solidFill>
          <a:ln/>
        </p:spPr>
      </p:sp>
      <p:sp>
        <p:nvSpPr>
          <p:cNvPr id="58" name="Text 56"/>
          <p:cNvSpPr/>
          <p:nvPr/>
        </p:nvSpPr>
        <p:spPr>
          <a:xfrm>
            <a:off x="6756400" y="5181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NEXT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56400" y="5486400"/>
            <a:ext cx="444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Permanent Freeze Delegate → non-transferable. Today's asset is still transferable.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issuer key signs and pays the fee and rent; the learner's wallet only receives. A wallet stays optional for learning.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06 / 09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BUSINESS &amp; DISTRIBUTION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826500" y="546100"/>
            <a:ext cx="2603500" cy="279400"/>
          </a:xfrm>
          <a:prstGeom prst="roundRect">
            <a:avLst>
              <a:gd name="adj" fmla="val 50000"/>
            </a:avLst>
          </a:prstGeom>
          <a:solidFill>
            <a:srgbClr val="FFE1D1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6500" y="546100"/>
            <a:ext cx="260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PROSPECTIVE · NOT 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Human trust. </a:t>
            </a:r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AI scale.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3365500" cy="2667000"/>
          </a:xfrm>
          <a:prstGeom prst="roundRect">
            <a:avLst>
              <a:gd name="adj" fmla="val 4762"/>
            </a:avLst>
          </a:prstGeom>
          <a:solidFill>
            <a:srgbClr val="DDE6FF"/>
          </a:solidFill>
          <a:ln/>
        </p:spPr>
      </p:sp>
      <p:sp>
        <p:nvSpPr>
          <p:cNvPr id="7" name="Text 5"/>
          <p:cNvSpPr/>
          <p:nvPr/>
        </p:nvSpPr>
        <p:spPr>
          <a:xfrm>
            <a:off x="977900" y="2324100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· B2C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7900" y="2565400"/>
            <a:ext cx="298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Everyday learners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7900" y="2946400"/>
            <a:ext cx="298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Free to start. Premium subscription planned.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7900" y="3683000"/>
            <a:ext cx="298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Founder reach: DORIANOS / ZŁAP TREND on YouTube and in community channels.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05300" y="2095500"/>
            <a:ext cx="3365500" cy="2667000"/>
          </a:xfrm>
          <a:prstGeom prst="roundRect">
            <a:avLst>
              <a:gd name="adj" fmla="val 4762"/>
            </a:avLst>
          </a:prstGeom>
          <a:solidFill>
            <a:srgbClr val="EBE1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1200" y="2324100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· B2B2C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1200" y="2565400"/>
            <a:ext cx="298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White-label for partners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1200" y="2946400"/>
            <a:ext cx="298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Financial planners, educators and institutions offer Mila under their brand — with verifiable certificates.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48600" y="2095500"/>
            <a:ext cx="3581400" cy="2667000"/>
          </a:xfrm>
          <a:prstGeom prst="roundRect">
            <a:avLst>
              <a:gd name="adj" fmla="val 4762"/>
            </a:avLst>
          </a:prstGeom>
          <a:solidFill>
            <a:srgbClr val="D5F3E5"/>
          </a:solidFill>
          <a:ln/>
        </p:spPr>
      </p:sp>
      <p:sp>
        <p:nvSpPr>
          <p:cNvPr id="16" name="Text 14"/>
          <p:cNvSpPr/>
          <p:nvPr/>
        </p:nvSpPr>
        <p:spPr>
          <a:xfrm>
            <a:off x="8064500" y="23241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· PROSPECTIVE 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64500" y="2565400"/>
            <a:ext cx="3200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Metamorfoza Finansowa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64500" y="2946400"/>
            <a:ext cx="3200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64500" y="29464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Grzegorz Kusz · in discussion, not signed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64500" y="3619500"/>
            <a:ext cx="1524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4A456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191500" y="37211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12k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91500" y="41275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clients*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77400" y="3619500"/>
            <a:ext cx="1524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4A456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804400" y="37211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120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804400" y="41275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planners*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2000" y="5016500"/>
            <a:ext cx="10668000" cy="53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500" y="501650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*  Partner's own figures, founder-reported, pending independent verification. Not CoachFI users or revenue.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signed partnership, paying customer or user count is claimed.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07 / 09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ROADMAP · THROUGH 2027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445500" y="546100"/>
            <a:ext cx="2984500" cy="279400"/>
          </a:xfrm>
          <a:prstGeom prst="roundRect">
            <a:avLst>
              <a:gd name="adj" fmla="val 50000"/>
            </a:avLst>
          </a:prstGeom>
          <a:solidFill>
            <a:srgbClr val="DDE6FF"/>
          </a:solidFill>
          <a:ln/>
        </p:spPr>
      </p:sp>
      <p:sp>
        <p:nvSpPr>
          <p:cNvPr id="4" name="Text 2"/>
          <p:cNvSpPr/>
          <p:nvPr/>
        </p:nvSpPr>
        <p:spPr>
          <a:xfrm>
            <a:off x="8445500" y="5461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MILESTONE 1 DONE · REST ARE GOALS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From Devnet proof </a:t>
            </a:r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to real pilots.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1816100"/>
            <a:ext cx="1270000" cy="228600"/>
          </a:xfrm>
          <a:prstGeom prst="roundRect">
            <a:avLst>
              <a:gd name="adj" fmla="val 61111"/>
            </a:avLst>
          </a:prstGeom>
          <a:solidFill>
            <a:srgbClr val="1E1B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16100"/>
            <a:ext cx="12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NOW ·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159000"/>
            <a:ext cx="10363200" cy="88900"/>
          </a:xfrm>
          <a:prstGeom prst="roundRect">
            <a:avLst>
              <a:gd name="adj" fmla="val 50000"/>
            </a:avLst>
          </a:prstGeom>
          <a:solidFill>
            <a:srgbClr val="EFEAF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59000"/>
            <a:ext cx="1663700" cy="88900"/>
          </a:xfrm>
          <a:prstGeom prst="roundRect">
            <a:avLst>
              <a:gd name="adj" fmla="val 50000"/>
            </a:avLst>
          </a:prstGeom>
          <a:solidFill>
            <a:srgbClr val="5B4BC4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413000"/>
            <a:ext cx="2552700" cy="2540000"/>
          </a:xfrm>
          <a:prstGeom prst="roundRect">
            <a:avLst>
              <a:gd name="adj" fmla="val 5000"/>
            </a:avLst>
          </a:prstGeom>
          <a:solidFill>
            <a:srgbClr val="D5F3E5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6035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spc="100" kern="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OCT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9800" y="2857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Prove the mint 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" y="3238500"/>
            <a:ext cx="22542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First Devnet certificate minted (13 Oct)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Fix metadata URI, repeat on new wallets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7100" y="2413000"/>
            <a:ext cx="25527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4900" y="26035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spc="100" kern="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Q4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4900" y="2857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Credentials +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4900" y="3238500"/>
            <a:ext cx="22542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Non-transferable badge (Permanent Freeze Delegate)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Robust checks, optional wallet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More Mila lessons · Kids mode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2413000"/>
            <a:ext cx="25527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0000" y="26035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spc="100" kern="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Q1 2027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0000" y="2857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White-label pilot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0000" y="3238500"/>
            <a:ext cx="22542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Partner feedback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Engagement proof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77300" y="2413000"/>
            <a:ext cx="25527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5100" y="26035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spc="100" kern="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Q2–H2 2027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5100" y="2857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Scale carefully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5100" y="3238500"/>
            <a:ext cx="22542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Country-aware content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Staged path to 32 languages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Explore regulated marketplace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Possible Jupiter asset discovery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2000" y="5143500"/>
            <a:ext cx="10668000" cy="482600"/>
          </a:xfrm>
          <a:prstGeom prst="roundRect">
            <a:avLst>
              <a:gd name="adj" fmla="val 21053"/>
            </a:avLst>
          </a:prstGeom>
          <a:solidFill>
            <a:srgbClr val="FFE1D1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" y="5143500"/>
            <a:ext cx="1016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Mainnet only after a security audit and legal review.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Indicative dates. Scope depends on testing, legal review, team capacity and partners.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08 / 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TEAM · THE ASK</a:t>
            </a:r>
            <a:endParaRPr lang="en-US" sz="1100" dirty="0"/>
          </a:p>
        </p:txBody>
      </p:sp>
      <p:pic>
        <p:nvPicPr>
          <p:cNvPr id="3" name="Image 0" descr="/home/claude/assets/a0_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0" y="495300"/>
            <a:ext cx="273050" cy="40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21900" y="5334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oach</a:t>
            </a:r>
            <a:endParaRPr lang="en-US" sz="2300" dirty="0"/>
          </a:p>
        </p:txBody>
      </p:sp>
      <p:pic>
        <p:nvPicPr>
          <p:cNvPr id="5" name="Image 1" descr="/home/claude/assets/a1_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0" y="571500"/>
            <a:ext cx="317500" cy="25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44250" y="50800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62000" y="9525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Financial confidence should be
</a:t>
            </a:r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a habit, not a privilege.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762000" y="2349500"/>
            <a:ext cx="3657600" cy="1524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9800" y="2540000"/>
            <a:ext cx="482600" cy="482600"/>
          </a:xfrm>
          <a:prstGeom prst="roundRect">
            <a:avLst>
              <a:gd name="adj" fmla="val 23684"/>
            </a:avLst>
          </a:prstGeom>
          <a:solidFill>
            <a:srgbClr val="EBE1FF"/>
          </a:solidFill>
          <a:ln/>
        </p:spPr>
      </p:sp>
      <p:sp>
        <p:nvSpPr>
          <p:cNvPr id="10" name="Text 6"/>
          <p:cNvSpPr/>
          <p:nvPr/>
        </p:nvSpPr>
        <p:spPr>
          <a:xfrm>
            <a:off x="939800" y="25400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49400" y="2540000"/>
            <a:ext cx="273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Dorian Żaczek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49400" y="2832100"/>
            <a:ext cx="2730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Founder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549400" y="30607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DORIANOS / ZŁAP TREND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YouTube, community and financial education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59300" y="2349500"/>
            <a:ext cx="3657600" cy="1524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37100" y="2540000"/>
            <a:ext cx="482600" cy="482600"/>
          </a:xfrm>
          <a:prstGeom prst="roundRect">
            <a:avLst>
              <a:gd name="adj" fmla="val 23684"/>
            </a:avLst>
          </a:prstGeom>
          <a:solidFill>
            <a:srgbClr val="D5F3E5"/>
          </a:solidFill>
          <a:ln/>
        </p:spPr>
      </p:sp>
      <p:sp>
        <p:nvSpPr>
          <p:cNvPr id="16" name="Text 12"/>
          <p:cNvSpPr/>
          <p:nvPr/>
        </p:nvSpPr>
        <p:spPr>
          <a:xfrm>
            <a:off x="4737100" y="25400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F6B4D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346700" y="2540000"/>
            <a:ext cx="273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Mieszko Manijak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46700" y="2832100"/>
            <a:ext cx="2730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Solana Developer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346700" y="30607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Wallet flow, Devnet certificates and on-chain proof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62000" y="4064000"/>
            <a:ext cx="2413000" cy="1206500"/>
          </a:xfrm>
          <a:prstGeom prst="roundRect">
            <a:avLst>
              <a:gd name="adj" fmla="val 10526"/>
            </a:avLst>
          </a:prstGeom>
          <a:solidFill>
            <a:srgbClr val="D5F3E5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27100" y="42545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ASK 1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27100" y="44831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Pilot partners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289300" y="4064000"/>
            <a:ext cx="2413000" cy="1206500"/>
          </a:xfrm>
          <a:prstGeom prst="roundRect">
            <a:avLst>
              <a:gd name="adj" fmla="val 10526"/>
            </a:avLst>
          </a:prstGeom>
          <a:solidFill>
            <a:srgbClr val="EBE1FF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54400" y="42545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ASK 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54400" y="44831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Solana technical support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816600" y="4064000"/>
            <a:ext cx="2413000" cy="1206500"/>
          </a:xfrm>
          <a:prstGeom prst="roundRect">
            <a:avLst>
              <a:gd name="adj" fmla="val 10526"/>
            </a:avLst>
          </a:prstGeom>
          <a:solidFill>
            <a:srgbClr val="FFF0BF"/>
          </a:solidFill>
          <a:ln w="19050">
            <a:solidFill>
              <a:srgbClr val="1E1B2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81700" y="42545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20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ASK 3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981700" y="44831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Funding conversations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8255000" y="2032000"/>
            <a:ext cx="3556000" cy="3556000"/>
          </a:xfrm>
          <a:prstGeom prst="ellipse">
            <a:avLst/>
          </a:prstGeom>
          <a:ln w="15875">
            <a:solidFill>
              <a:srgbClr val="CFC7EE"/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>
            <a:off x="8636000" y="2413000"/>
            <a:ext cx="2794000" cy="2794000"/>
          </a:xfrm>
          <a:prstGeom prst="ellipse">
            <a:avLst/>
          </a:prstGeom>
          <a:solidFill>
            <a:srgbClr val="EBE1FF"/>
          </a:solidFill>
          <a:ln/>
        </p:spPr>
      </p:sp>
      <p:pic>
        <p:nvPicPr>
          <p:cNvPr id="31" name="Image 2" descr="/home/claude/assets/a2_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750" y="2540000"/>
            <a:ext cx="1714500" cy="25400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coachfiai.com · Talk to us after the session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09 / 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JUDGE Q&amp;A 1 · STATUS LEDGER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207500" y="546100"/>
            <a:ext cx="2222500" cy="279400"/>
          </a:xfrm>
          <a:prstGeom prst="roundRect">
            <a:avLst>
              <a:gd name="adj" fmla="val 50000"/>
            </a:avLst>
          </a:prstGeom>
          <a:solidFill>
            <a:srgbClr val="DDE6FF"/>
          </a:solidFill>
          <a:ln/>
        </p:spPr>
      </p:sp>
      <p:sp>
        <p:nvSpPr>
          <p:cNvPr id="4" name="Text 2"/>
          <p:cNvSpPr/>
          <p:nvPr/>
        </p:nvSpPr>
        <p:spPr>
          <a:xfrm>
            <a:off x="9207500" y="5461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IN THE 3-MINUTE TIMER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What is live, what needs proof, </a:t>
            </a:r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what is planned.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3454400" cy="2159000"/>
          </a:xfrm>
          <a:prstGeom prst="roundRect">
            <a:avLst>
              <a:gd name="adj" fmla="val 5882"/>
            </a:avLst>
          </a:prstGeom>
          <a:solidFill>
            <a:srgbClr val="D5F3E5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8796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 VERIFIED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2500" y="2184400"/>
            <a:ext cx="3111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Rewards page, CDP wallet, consent, Mint action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Mint tx finalized, no error (13 Oct)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Metaplex Core asset, owner = learner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Metadata JSON reachable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800" y="1714500"/>
            <a:ext cx="3454400" cy="2159000"/>
          </a:xfrm>
          <a:prstGeom prst="roundRect">
            <a:avLst>
              <a:gd name="adj" fmla="val 5882"/>
            </a:avLst>
          </a:prstGeom>
          <a:solidFill>
            <a:srgbClr val="FFE1D1"/>
          </a:solidFill>
          <a:ln/>
        </p:spPr>
      </p:sp>
      <p:sp>
        <p:nvSpPr>
          <p:cNvPr id="10" name="Text 8"/>
          <p:cNvSpPr/>
          <p:nvPr/>
        </p:nvSpPr>
        <p:spPr>
          <a:xfrm>
            <a:off x="4559300" y="18796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? TO FIX / PROVE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9300" y="2184400"/>
            <a:ext cx="3111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URI field holds 8 stacked URLs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“user” attribute = placeholder “Your”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Repeat mint on a fresh wallet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Score is public on-chain — intended?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75600" y="1714500"/>
            <a:ext cx="3454400" cy="2159000"/>
          </a:xfrm>
          <a:prstGeom prst="roundRect">
            <a:avLst>
              <a:gd name="adj" fmla="val 5882"/>
            </a:avLst>
          </a:prstGeom>
          <a:solidFill>
            <a:srgbClr val="DDE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66100" y="18796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PLANNED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66100" y="2184400"/>
            <a:ext cx="3111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Permanent Freeze Delegate at creation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collection for all certificates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Mainnet after audit + legal review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2000" y="4064000"/>
            <a:ext cx="3454400" cy="14605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200" y="424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Why Solana?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5200" y="4546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Fast, low-cost credentials anyone can verify — while private learning data stays off-chain.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68800" y="4064000"/>
            <a:ext cx="3454400" cy="14605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24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Built during Colosseum?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546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show commits and the live domain, and separate pre-hackathon modules from hackathon work.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75600" y="4064000"/>
            <a:ext cx="3454400" cy="14605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8800" y="424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Show a live NFT?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78800" y="4546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Scan slide 5: tx 4o6n9e… and asset 373B7m… in Explorer (devnet). Details: Q&amp;A 3.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Program ID referenced: Metaplex Core CoREENxT6tW1HoK8ypY1SxRMZTcVPm7R94rH4PZNhX7d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Q&amp;A 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JUDGE Q&amp;A 2 · PRIVACY &amp; TRANSFERABILITY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207500" y="546100"/>
            <a:ext cx="2222500" cy="279400"/>
          </a:xfrm>
          <a:prstGeom prst="roundRect">
            <a:avLst>
              <a:gd name="adj" fmla="val 50000"/>
            </a:avLst>
          </a:prstGeom>
          <a:solidFill>
            <a:srgbClr val="DDE6FF"/>
          </a:solidFill>
          <a:ln/>
        </p:spPr>
      </p:sp>
      <p:sp>
        <p:nvSpPr>
          <p:cNvPr id="4" name="Text 2"/>
          <p:cNvSpPr/>
          <p:nvPr/>
        </p:nvSpPr>
        <p:spPr>
          <a:xfrm>
            <a:off x="9207500" y="5461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IN THE 3-MINUTE TIMER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Proof is public. </a:t>
            </a:r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Learning data is not.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10668000" cy="914400"/>
        </p:xfrm>
        <a:graphic>
          <a:graphicData uri="http://schemas.openxmlformats.org/drawingml/2006/table">
            <a:tbl>
              <a:tblPr/>
              <a:tblGrid>
                <a:gridCol w="2667000"/>
                <a:gridCol w="2159000"/>
                <a:gridCol w="58420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DATA</a:t>
                      </a:r>
                      <a:endParaRPr lang="en-US" sz="10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WHERE</a:t>
                      </a:r>
                      <a:endParaRPr lang="en-US" sz="10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WHY</a:t>
                      </a:r>
                      <a:endParaRPr lang="en-US" sz="10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1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Identity, voice, money data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Off-chain · private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Never written to Solana. Protected by app security and consent.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Quiz answers, streaks, points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Off-chain · private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Backend decides eligibility. Only the final score is on the certificate today.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Wallet address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On-chain · pseudonymous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Coinbase CDP non-custodial wallet: the learner controls it. Optional.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Certificate asset + attributes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On-chain · public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B2E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Name, URI, issuer, certificate, score, issued-at — verifiable in Explorer.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4064000"/>
            <a:ext cx="3454400" cy="1524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5200" y="424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Transferable?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5200" y="4546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Today, yes — the first asset has only an Attributes plugin. Next: Permanent Freeze Delegate, set at creation.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8800" y="4064000"/>
            <a:ext cx="3454400" cy="1524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424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Can it be sold?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4546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 copy: certificates are proof of education, not investment products.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75600" y="4064000"/>
            <a:ext cx="3454400" cy="1524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CE6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78800" y="424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Kids?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8800" y="4546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Education only. No wallets, no financial products.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Sources: Flash Eurobarometer 525 (2023) · EC COM(2025) 681 (30 Sept 2025) · Metaplex Core docs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Q&amp;A 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842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50" kern="0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JUDGE Q&amp;A 3 · DEVNET EVIDENCE GATE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06000" y="5461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0" y="5461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●  SOLANA DEVNET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Show the transaction. </a:t>
            </a:r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5B4BC4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Not just the button.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8191500" cy="3810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8575">
            <a:solidFill>
              <a:srgbClr val="5B4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" y="1905000"/>
            <a:ext cx="774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✓ Recorded: Devnet certificate mint verified (13 Oct 2026)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235200"/>
            <a:ext cx="774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Values copied from the real transaction and checked on the public Devnet RPC and Solana Explorer.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90600" y="26162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1000" y="26162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600" y="29591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Tx 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1000" y="29591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4o6n9eheET…Lk2jtZLEv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600" y="33020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1000" y="33020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finalized · err null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0600" y="36449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Slot /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1000" y="36449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510481868 · 2026-10-13 02:57:13 UTC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0600" y="3987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Programs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1000" y="39878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Metaplex Core (CreateV2),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0600" y="43307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1000" y="43307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373B7mWUUpDVy9nFXTo9poPcpuETKpX4xYmgMVcUnDsA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0600" y="46736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Owner (learner)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1000" y="46736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21dYDb9SxtCMAXitR72V3at1zfVKawYWwx6riJvC2C8p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0600" y="50165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Issuer / payer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1000" y="5016500"/>
            <a:ext cx="590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BkQMdMKsG9jYc6yvfhxKcvQR3bAeJJJq5ew2L9ptRzrT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0" y="1714500"/>
            <a:ext cx="228600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1E1B2E"/>
            </a:solidFill>
            <a:prstDash val="solid"/>
          </a:ln>
        </p:spPr>
      </p:sp>
      <p:pic>
        <p:nvPicPr>
          <p:cNvPr id="26" name="Image 0" descr="/home/claude/assets/qr_tx_hi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00" y="1841500"/>
            <a:ext cx="2032000" cy="2032000"/>
          </a:xfrm>
          <a:prstGeom prst="rect">
            <a:avLst/>
          </a:prstGeom>
        </p:spPr>
      </p:pic>
      <p:sp>
        <p:nvSpPr>
          <p:cNvPr id="27" name="Text 24">
            <a:hlinkClick r:id="rId3" tooltip=""/>
          </p:cNvPr>
          <p:cNvSpPr/>
          <p:nvPr/>
        </p:nvSpPr>
        <p:spPr>
          <a:xfrm>
            <a:off x="9144000" y="41275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u="sng" dirty="0">
                <a:solidFill>
                  <a:srgbClr val="5B4BC4"/>
                </a:solidFill>
                <a:latin typeface="Nunito" pitchFamily="34" charset="0"/>
                <a:ea typeface="Nunito" pitchFamily="34" charset="-122"/>
                <a:cs typeface="Nuni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tx in Solana Explorer ↗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144000" y="4508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re-check: Q&amp;A 3 in the animated HTML deck.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62000" y="6350000"/>
            <a:ext cx="914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Recorded values come from the real tx. Never add a signature, asset ID or mint count that was not checked.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4A45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Q&amp;A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CoachFI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CoachFI AI · Colosseum 2026 Pitch</dc:title>
  <dc:subject>PptxGenJS Presentation</dc:subject>
  <dc:creator>Dorian Żaczek</dc:creator>
  <cp:lastModifiedBy>Dorian Żaczek</cp:lastModifiedBy>
  <cp:revision>1</cp:revision>
  <dcterms:created xsi:type="dcterms:W3CDTF">2026-10-13T05:13:27Z</dcterms:created>
  <dcterms:modified xsi:type="dcterms:W3CDTF">2026-10-13T05:13:27Z</dcterms:modified>
</cp:coreProperties>
</file>